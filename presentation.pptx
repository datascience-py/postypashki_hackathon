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D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C6478"/>
                </a:solidFill>
                <a:latin typeface="Arial"/>
              </a:defRPr>
            </a:pPr>
            <a:r>
              <a:rPr lang="ru-RU" sz="1200" b="0" i="0" u="none" strike="noStrike" dirty="0">
                <a:solidFill>
                  <a:schemeClr val="tx2">
                    <a:lumMod val="75000"/>
                  </a:schemeClr>
                </a:solidFill>
                <a:latin typeface="Arial"/>
              </a:rPr>
              <a:t>Заказы по дням — три видимых всплеска без единого поля "источник"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Заказы в день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Sheet1!$A$2:$A$38</c:f>
              <c:strCache>
                <c:ptCount val="37"/>
                <c:pt idx="0">
                  <c:v>04.08</c:v>
                </c:pt>
                <c:pt idx="1">
                  <c:v>05.08</c:v>
                </c:pt>
                <c:pt idx="2">
                  <c:v>06.08</c:v>
                </c:pt>
                <c:pt idx="3">
                  <c:v>07.08</c:v>
                </c:pt>
                <c:pt idx="4">
                  <c:v>08.08</c:v>
                </c:pt>
                <c:pt idx="5">
                  <c:v>09.08</c:v>
                </c:pt>
                <c:pt idx="6">
                  <c:v>10.08</c:v>
                </c:pt>
                <c:pt idx="7">
                  <c:v>11.08</c:v>
                </c:pt>
                <c:pt idx="8">
                  <c:v>12.08</c:v>
                </c:pt>
                <c:pt idx="9">
                  <c:v>13.08</c:v>
                </c:pt>
                <c:pt idx="10">
                  <c:v>14.08</c:v>
                </c:pt>
                <c:pt idx="11">
                  <c:v>15.08</c:v>
                </c:pt>
                <c:pt idx="12">
                  <c:v>16.08</c:v>
                </c:pt>
                <c:pt idx="13">
                  <c:v>17.08</c:v>
                </c:pt>
                <c:pt idx="14">
                  <c:v>18.08</c:v>
                </c:pt>
                <c:pt idx="15">
                  <c:v>19.08</c:v>
                </c:pt>
                <c:pt idx="16">
                  <c:v>20.08</c:v>
                </c:pt>
                <c:pt idx="17">
                  <c:v>21.08</c:v>
                </c:pt>
                <c:pt idx="18">
                  <c:v>22.08</c:v>
                </c:pt>
                <c:pt idx="19">
                  <c:v>23.08</c:v>
                </c:pt>
                <c:pt idx="20">
                  <c:v>24.08</c:v>
                </c:pt>
                <c:pt idx="21">
                  <c:v>25.08</c:v>
                </c:pt>
                <c:pt idx="22">
                  <c:v>26.08</c:v>
                </c:pt>
                <c:pt idx="23">
                  <c:v>27.08</c:v>
                </c:pt>
                <c:pt idx="24">
                  <c:v>28.08</c:v>
                </c:pt>
                <c:pt idx="25">
                  <c:v>29.08</c:v>
                </c:pt>
                <c:pt idx="26">
                  <c:v>30.08</c:v>
                </c:pt>
                <c:pt idx="27">
                  <c:v>31.08</c:v>
                </c:pt>
                <c:pt idx="28">
                  <c:v>01.09</c:v>
                </c:pt>
                <c:pt idx="29">
                  <c:v>02.09</c:v>
                </c:pt>
                <c:pt idx="30">
                  <c:v>03.09</c:v>
                </c:pt>
                <c:pt idx="31">
                  <c:v>04.09</c:v>
                </c:pt>
                <c:pt idx="32">
                  <c:v>05.09</c:v>
                </c:pt>
                <c:pt idx="33">
                  <c:v>06.09</c:v>
                </c:pt>
                <c:pt idx="34">
                  <c:v>07.09</c:v>
                </c:pt>
                <c:pt idx="35">
                  <c:v>08.09</c:v>
                </c:pt>
                <c:pt idx="36">
                  <c:v>09.09</c:v>
                </c:pt>
              </c:strCache>
            </c:strRef>
          </c:cat>
          <c:val>
            <c:numRef>
              <c:f>Sheet1!$B$2:$B$38</c:f>
              <c:numCache>
                <c:formatCode>General</c:formatCode>
                <c:ptCount val="37"/>
                <c:pt idx="0">
                  <c:v>7</c:v>
                </c:pt>
                <c:pt idx="1">
                  <c:v>6</c:v>
                </c:pt>
                <c:pt idx="2">
                  <c:v>7</c:v>
                </c:pt>
                <c:pt idx="3">
                  <c:v>5</c:v>
                </c:pt>
                <c:pt idx="4">
                  <c:v>35</c:v>
                </c:pt>
                <c:pt idx="5">
                  <c:v>68</c:v>
                </c:pt>
                <c:pt idx="6">
                  <c:v>29</c:v>
                </c:pt>
                <c:pt idx="7">
                  <c:v>12</c:v>
                </c:pt>
                <c:pt idx="8">
                  <c:v>14</c:v>
                </c:pt>
                <c:pt idx="9">
                  <c:v>9</c:v>
                </c:pt>
                <c:pt idx="10">
                  <c:v>9</c:v>
                </c:pt>
                <c:pt idx="11">
                  <c:v>5</c:v>
                </c:pt>
                <c:pt idx="12">
                  <c:v>5</c:v>
                </c:pt>
                <c:pt idx="13">
                  <c:v>3</c:v>
                </c:pt>
                <c:pt idx="14">
                  <c:v>6</c:v>
                </c:pt>
                <c:pt idx="15">
                  <c:v>5</c:v>
                </c:pt>
                <c:pt idx="16">
                  <c:v>6</c:v>
                </c:pt>
                <c:pt idx="17">
                  <c:v>3</c:v>
                </c:pt>
                <c:pt idx="18">
                  <c:v>26</c:v>
                </c:pt>
                <c:pt idx="19">
                  <c:v>39</c:v>
                </c:pt>
                <c:pt idx="20">
                  <c:v>19</c:v>
                </c:pt>
                <c:pt idx="21">
                  <c:v>15</c:v>
                </c:pt>
                <c:pt idx="22">
                  <c:v>9</c:v>
                </c:pt>
                <c:pt idx="23">
                  <c:v>10</c:v>
                </c:pt>
                <c:pt idx="24">
                  <c:v>6</c:v>
                </c:pt>
                <c:pt idx="25">
                  <c:v>10</c:v>
                </c:pt>
                <c:pt idx="26">
                  <c:v>19</c:v>
                </c:pt>
                <c:pt idx="27">
                  <c:v>19</c:v>
                </c:pt>
                <c:pt idx="28">
                  <c:v>19</c:v>
                </c:pt>
                <c:pt idx="29">
                  <c:v>23</c:v>
                </c:pt>
                <c:pt idx="30">
                  <c:v>20</c:v>
                </c:pt>
                <c:pt idx="31">
                  <c:v>26</c:v>
                </c:pt>
                <c:pt idx="32">
                  <c:v>49</c:v>
                </c:pt>
                <c:pt idx="33">
                  <c:v>45</c:v>
                </c:pt>
                <c:pt idx="34">
                  <c:v>17</c:v>
                </c:pt>
                <c:pt idx="35">
                  <c:v>6</c:v>
                </c:pt>
                <c:pt idx="36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02-42E3-8B07-63C749541E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5400000"/>
          <a:lstStyle/>
          <a:p>
            <a:pPr>
              <a:defRPr sz="700" b="0" i="0" u="none" strike="noStrike">
                <a:solidFill>
                  <a:srgbClr val="5C6478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chemeClr val="bg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478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C6478"/>
                </a:solidFill>
                <a:latin typeface="Arial"/>
              </a:defRPr>
            </a:pPr>
            <a:r>
              <a:rPr lang="ru-RU" sz="1200" b="0" i="0" u="none" strike="noStrike">
                <a:solidFill>
                  <a:srgbClr val="5C6478"/>
                </a:solidFill>
                <a:latin typeface="Arial"/>
              </a:rPr>
              <a:t>Один и тот же пример: ROMI по модели, %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Канал А (знакомит)</c:v>
                </c:pt>
              </c:strCache>
            </c:strRef>
          </c:tx>
          <c:spPr>
            <a:solidFill>
              <a:srgbClr val="3A8B5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First touch</c:v>
                </c:pt>
                <c:pt idx="1">
                  <c:v>Last touch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</c:v>
                </c:pt>
                <c:pt idx="1">
                  <c:v>-1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96-4DCB-A970-03F3723E68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Канал Б (дожимает)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First touch</c:v>
                </c:pt>
                <c:pt idx="1">
                  <c:v>Last touch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-1</c:v>
                </c:pt>
                <c:pt idx="1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396-4DCB-A970-03F3723E68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478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478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6478"/>
              </a:solidFill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C6478"/>
                </a:solidFill>
                <a:latin typeface="Arial"/>
              </a:defRPr>
            </a:pPr>
            <a:r>
              <a:rPr lang="ru-RU" sz="1200" b="0" i="0" u="none" strike="noStrike">
                <a:solidFill>
                  <a:srgbClr val="5C6478"/>
                </a:solidFill>
                <a:latin typeface="Arial"/>
              </a:rPr>
              <a:t>Заказов/день: продвигали ПРО, СТАРТ не трогали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ПРО</c:v>
                </c:pt>
                <c:pt idx="1">
                  <c:v>СТАРТ (контроль)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36-4DA2-A5B9-BFCBFF9363E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Во время продвижения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ПРО</c:v>
                </c:pt>
                <c:pt idx="1">
                  <c:v>СТАРТ (контроль)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10.25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36-4DA2-A5B9-BFCBFF9363E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478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478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C6478"/>
              </a:solidFill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6534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3F959D70-27BE-456C-9AC0-388DC3DD6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7667" y1="38444" x2="47667" y2="33667"/>
                        <a14:foregroundMark x1="49111" y1="38000" x2="46889" y2="35333"/>
                        <a14:foregroundMark x1="53556" y1="50444" x2="53556" y2="50444"/>
                        <a14:foregroundMark x1="19111" y1="68222" x2="19111" y2="68222"/>
                        <a14:foregroundMark x1="51889" y1="26778" x2="51889" y2="26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7037" y="-694966"/>
            <a:ext cx="7552966" cy="7552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0"/>
          <p:cNvSpPr txBox="1"/>
          <p:nvPr/>
        </p:nvSpPr>
        <p:spPr>
          <a:xfrm>
            <a:off x="781148" y="1459022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Куда </a:t>
            </a:r>
            <a:r>
              <a:rPr lang="en-US" sz="4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исчезает</a:t>
            </a: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ru-RU" sz="4400" b="1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buNone/>
            </a:pPr>
            <a:r>
              <a:rPr lang="en-US" sz="4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маркетинг</a:t>
            </a: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4612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system для Telegram-школы «Поступашки»: </a:t>
            </a:r>
            <a:endParaRPr lang="ru-RU" sz="1700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7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откуда</a:t>
            </a: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приходят покупатели и какая реклама реально окупается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4160520"/>
            <a:ext cx="502920" cy="36576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Участники: Рубцова Галина, Голубчиков Антон, Григорьев Максим, Самсонов Владимир</a:t>
            </a:r>
            <a:endParaRPr lang="en-US" sz="1300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33CE118-2A38-4D44-9342-F34105725202}"/>
              </a:ext>
            </a:extLst>
          </p:cNvPr>
          <p:cNvSpPr/>
          <p:nvPr/>
        </p:nvSpPr>
        <p:spPr>
          <a:xfrm>
            <a:off x="693046" y="2739182"/>
            <a:ext cx="4909229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100" b="1" dirty="0">
                <a:solidFill>
                  <a:srgbClr val="CADCFC"/>
                </a:solidFill>
                <a:latin typeface="145786"/>
              </a:rPr>
              <a:t>Решение </a:t>
            </a:r>
            <a:r>
              <a:rPr lang="ru-RU" sz="2100" b="1" dirty="0" err="1">
                <a:solidFill>
                  <a:srgbClr val="CADCFC"/>
                </a:solidFill>
                <a:latin typeface="145786"/>
              </a:rPr>
              <a:t>хакатона</a:t>
            </a:r>
            <a:r>
              <a:rPr lang="ru-RU" sz="2100" b="1" dirty="0">
                <a:solidFill>
                  <a:srgbClr val="CADCFC"/>
                </a:solidFill>
                <a:latin typeface="145786"/>
              </a:rPr>
              <a:t> «Аналитика вне </a:t>
            </a:r>
            <a:r>
              <a:rPr lang="en-US" sz="2100" b="1" dirty="0">
                <a:solidFill>
                  <a:srgbClr val="CADCFC"/>
                </a:solidFill>
                <a:latin typeface="145786"/>
              </a:rPr>
              <a:t>SQL</a:t>
            </a:r>
            <a:r>
              <a:rPr lang="ru-RU" sz="2100" b="1" dirty="0">
                <a:solidFill>
                  <a:srgbClr val="CADCFC"/>
                </a:solidFill>
                <a:latin typeface="145786"/>
              </a:rPr>
              <a:t>»</a:t>
            </a:r>
            <a:endParaRPr lang="ru-RU" sz="2100" dirty="0">
              <a:solidFill>
                <a:srgbClr val="CADCFC"/>
              </a:solidFill>
              <a:latin typeface="145786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Бизнес фиксирует только оплату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C24545">
              <a:alpha val="15000"/>
            </a:srgbClr>
          </a:solidFill>
          <a:ln w="15875">
            <a:solidFill>
              <a:srgbClr val="C24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10312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Реклама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278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видно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33472" y="2519172"/>
            <a:ext cx="237744" cy="219456"/>
          </a:xfrm>
          <a:prstGeom prst="rightArrow">
            <a:avLst/>
          </a:prstGeom>
          <a:solidFill>
            <a:srgbClr val="5C6478"/>
          </a:solidFill>
          <a:ln/>
        </p:spPr>
      </p:sp>
      <p:sp>
        <p:nvSpPr>
          <p:cNvPr id="8" name="Shape 6"/>
          <p:cNvSpPr/>
          <p:nvPr/>
        </p:nvSpPr>
        <p:spPr>
          <a:xfrm>
            <a:off x="2898648" y="210312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C24545">
              <a:alpha val="15000"/>
            </a:srgbClr>
          </a:solidFill>
          <a:ln w="15875">
            <a:solidFill>
              <a:srgbClr val="C245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98648" y="210312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/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98648" y="32278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видно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92040" y="2519172"/>
            <a:ext cx="237744" cy="219456"/>
          </a:xfrm>
          <a:prstGeom prst="rightArrow">
            <a:avLst/>
          </a:prstGeom>
          <a:solidFill>
            <a:srgbClr val="5C6478"/>
          </a:solidFill>
          <a:ln/>
        </p:spPr>
      </p:sp>
      <p:sp>
        <p:nvSpPr>
          <p:cNvPr id="12" name="Shape 10"/>
          <p:cNvSpPr/>
          <p:nvPr/>
        </p:nvSpPr>
        <p:spPr>
          <a:xfrm>
            <a:off x="5157216" y="210312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2A93B">
              <a:alpha val="15000"/>
            </a:srgbClr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57216" y="210312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157216" y="32278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 плохо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50608" y="2519172"/>
            <a:ext cx="237744" cy="219456"/>
          </a:xfrm>
          <a:prstGeom prst="rightArrow">
            <a:avLst/>
          </a:prstGeom>
          <a:solidFill>
            <a:srgbClr val="5C6478"/>
          </a:solidFill>
          <a:ln/>
        </p:spPr>
      </p:sp>
      <p:sp>
        <p:nvSpPr>
          <p:cNvPr id="16" name="Shape 14"/>
          <p:cNvSpPr/>
          <p:nvPr/>
        </p:nvSpPr>
        <p:spPr>
          <a:xfrm>
            <a:off x="7415784" y="210312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2A93B">
              <a:alpha val="15000"/>
            </a:srgbClr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15784" y="210312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415784" y="32278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 плохо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09176" y="2519172"/>
            <a:ext cx="237744" cy="219456"/>
          </a:xfrm>
          <a:prstGeom prst="rightArrow">
            <a:avLst/>
          </a:prstGeom>
          <a:solidFill>
            <a:srgbClr val="5C6478"/>
          </a:solidFill>
          <a:ln/>
        </p:spPr>
      </p:sp>
      <p:sp>
        <p:nvSpPr>
          <p:cNvPr id="20" name="Shape 18"/>
          <p:cNvSpPr/>
          <p:nvPr/>
        </p:nvSpPr>
        <p:spPr>
          <a:xfrm>
            <a:off x="9674352" y="210312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3A8B5C">
              <a:alpha val="15000"/>
            </a:srgbClr>
          </a:solidFill>
          <a:ln w="15875">
            <a:solidFill>
              <a:srgbClr val="3A8B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74352" y="210312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674352" y="32278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977640"/>
            <a:ext cx="10881360" cy="1417320"/>
          </a:xfrm>
          <a:prstGeom prst="roundRect">
            <a:avLst>
              <a:gd name="adj" fmla="val 3871"/>
            </a:avLst>
          </a:prstGeom>
          <a:solidFill>
            <a:srgbClr val="1E2761">
              <a:alpha val="8000"/>
            </a:srgbClr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41605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Ни</a:t>
            </a:r>
            <a:r>
              <a:rPr lang="en-US" sz="17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b="1" dirty="0" err="1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одного</a:t>
            </a:r>
            <a:r>
              <a:rPr lang="en-US" sz="17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b="1" dirty="0" err="1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поля</a:t>
            </a:r>
            <a:r>
              <a:rPr lang="en-US" sz="17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b="1" dirty="0" err="1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об</a:t>
            </a:r>
            <a:r>
              <a:rPr lang="en-US" sz="17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b="1" dirty="0" err="1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источнике</a:t>
            </a:r>
            <a:r>
              <a:rPr lang="en-US" sz="17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b="1" dirty="0" err="1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трафика</a:t>
            </a:r>
            <a:r>
              <a:rPr lang="en-US" sz="17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. </a:t>
            </a:r>
            <a:r>
              <a:rPr lang="en-US" sz="1700" b="1" dirty="0" err="1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Ни</a:t>
            </a:r>
            <a:r>
              <a:rPr lang="en-US" sz="17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b="1" dirty="0" err="1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одной</a:t>
            </a:r>
            <a:r>
              <a:rPr lang="en-US" sz="17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b="1" dirty="0" err="1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цифры</a:t>
            </a:r>
            <a:r>
              <a:rPr lang="en-US" sz="17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b="1" dirty="0" err="1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затрат</a:t>
            </a:r>
            <a:r>
              <a:rPr lang="en-US" sz="17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b="1" dirty="0" err="1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на</a:t>
            </a:r>
            <a:r>
              <a:rPr lang="en-US" sz="17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b="1" dirty="0" err="1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рекламу</a:t>
            </a:r>
            <a:r>
              <a:rPr lang="en-US" sz="17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.
</a:t>
            </a:r>
            <a:r>
              <a:rPr lang="en-US" sz="1700" dirty="0" err="1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Целевая</a:t>
            </a:r>
            <a:r>
              <a:rPr lang="en-US" sz="1700" dirty="0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метрика</a:t>
            </a:r>
            <a:r>
              <a:rPr lang="en-US" sz="1700" dirty="0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— ROMI. </a:t>
            </a:r>
            <a:r>
              <a:rPr lang="en-US" sz="1700" dirty="0" err="1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Посчитать</a:t>
            </a:r>
            <a:r>
              <a:rPr lang="en-US" sz="1700" dirty="0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её</a:t>
            </a:r>
            <a:r>
              <a:rPr lang="en-US" sz="1700" dirty="0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исторически</a:t>
            </a:r>
            <a:r>
              <a:rPr lang="en-US" sz="1700" dirty="0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«</a:t>
            </a:r>
            <a:r>
              <a:rPr lang="en-US" sz="1700" dirty="0" err="1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до</a:t>
            </a:r>
            <a:r>
              <a:rPr lang="en-US" sz="1700" dirty="0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копейки</a:t>
            </a:r>
            <a:r>
              <a:rPr lang="en-US" sz="1700" dirty="0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» </a:t>
            </a:r>
            <a:r>
              <a:rPr lang="en-US" sz="1700" dirty="0" err="1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невозможно</a:t>
            </a:r>
            <a:r>
              <a:rPr lang="en-US" sz="1700" dirty="0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— </a:t>
            </a:r>
            <a:r>
              <a:rPr lang="en-US" sz="1700" dirty="0" err="1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это</a:t>
            </a:r>
            <a:r>
              <a:rPr lang="en-US" sz="1700" dirty="0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свойство</a:t>
            </a:r>
            <a:r>
              <a:rPr lang="en-US" sz="1700" dirty="0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данных</a:t>
            </a:r>
            <a:r>
              <a:rPr lang="en-US" sz="1700" dirty="0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, а </a:t>
            </a:r>
            <a:r>
              <a:rPr lang="en-US" sz="1700" dirty="0" err="1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не</a:t>
            </a:r>
            <a:r>
              <a:rPr lang="en-US" sz="1700" dirty="0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ошибка</a:t>
            </a:r>
            <a:r>
              <a:rPr lang="en-US" sz="1700" dirty="0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постановки</a:t>
            </a:r>
            <a:r>
              <a:rPr lang="en-US" sz="1700" dirty="0">
                <a:solidFill>
                  <a:srgbClr val="5C647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 дней реальных продаж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200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795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84248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 в файле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779776" y="1417320"/>
            <a:ext cx="200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628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779776" y="1984248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заказов после склейки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919472" y="1417320"/>
            <a:ext cx="200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606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919472" y="1984248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покупателей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059168" y="1417320"/>
            <a:ext cx="200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7059168" y="1984248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курсов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98864" y="1417320"/>
            <a:ext cx="200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5,9 млн ₽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9198864" y="1984248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468880"/>
            <a:ext cx="108813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graphicFrame>
        <p:nvGraphicFramePr>
          <p:cNvPr id="15" name="Chart 0"/>
          <p:cNvGraphicFramePr/>
          <p:nvPr>
            <p:extLst>
              <p:ext uri="{D42A27DB-BD31-4B8C-83A1-F6EECF244321}">
                <p14:modId xmlns:p14="http://schemas.microsoft.com/office/powerpoint/2010/main" val="679931800"/>
              </p:ext>
            </p:extLst>
          </p:nvPr>
        </p:nvGraphicFramePr>
        <p:xfrm>
          <a:off x="502920" y="2697480"/>
          <a:ext cx="75895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hape 13"/>
          <p:cNvSpPr/>
          <p:nvPr/>
        </p:nvSpPr>
        <p:spPr>
          <a:xfrm>
            <a:off x="8366760" y="2697480"/>
            <a:ext cx="3200400" cy="1600200"/>
          </a:xfrm>
          <a:prstGeom prst="roundRect">
            <a:avLst>
              <a:gd name="adj" fmla="val 3429"/>
            </a:avLst>
          </a:prstGeom>
          <a:solidFill>
            <a:schemeClr val="accent5">
              <a:lumMod val="20000"/>
              <a:lumOff val="80000"/>
              <a:alpha val="60000"/>
            </a:schemeClr>
          </a:solidFill>
          <a:ln>
            <a:solidFill>
              <a:schemeClr val="dk1"/>
            </a:solidFill>
          </a:ln>
        </p:spPr>
      </p:sp>
      <p:sp>
        <p:nvSpPr>
          <p:cNvPr id="17" name="Text 14"/>
          <p:cNvSpPr txBox="1"/>
          <p:nvPr/>
        </p:nvSpPr>
        <p:spPr>
          <a:xfrm>
            <a:off x="8549640" y="28346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Границу заказа не пришлось гадать
</a:t>
            </a:r>
            <a:r>
              <a:rPr lang="en-US" sz="1400" dirty="0">
                <a:solidFill>
                  <a:srgbClr val="1A1A2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167 из 189 пар покупок разделены ровно 0 </a:t>
            </a:r>
            <a:r>
              <a:rPr lang="en-US" sz="1400" dirty="0" err="1">
                <a:solidFill>
                  <a:srgbClr val="1A1A2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секунд</a:t>
            </a:r>
            <a:r>
              <a:rPr lang="ru-RU" sz="1400" dirty="0">
                <a:solidFill>
                  <a:srgbClr val="1A1A2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8366760" y="4526280"/>
            <a:ext cx="3200400" cy="1600200"/>
          </a:xfrm>
          <a:prstGeom prst="roundRect">
            <a:avLst>
              <a:gd name="adj" fmla="val 3429"/>
            </a:avLst>
          </a:prstGeom>
          <a:solidFill>
            <a:schemeClr val="accent5">
              <a:lumMod val="20000"/>
              <a:lumOff val="80000"/>
              <a:alpha val="60000"/>
            </a:schemeClr>
          </a:solidFill>
          <a:ln>
            <a:solidFill>
              <a:schemeClr val="dk1"/>
            </a:solidFill>
          </a:ln>
        </p:spPr>
      </p:sp>
      <p:sp>
        <p:nvSpPr>
          <p:cNvPr id="19" name="Text 16"/>
          <p:cNvSpPr txBox="1"/>
          <p:nvPr/>
        </p:nvSpPr>
        <p:spPr>
          <a:xfrm>
            <a:off x="8549640" y="46634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Выходные дают почти половину продаж
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 заказов и 45% выручки — суббота и воскресенье. Заложено в атрибуцию и прогноз.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Нашли рекламу, о которой не знали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доступа к внутренней аналитике — только публичный архив канала, TGStat, Telemetr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2606040" cy="73152"/>
          </a:xfrm>
          <a:prstGeom prst="rect">
            <a:avLst/>
          </a:prstGeom>
          <a:solidFill>
            <a:srgbClr val="3A8B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224028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8–9 авг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57860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Распродажа СТАРТ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10896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A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Очень высокая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429000"/>
            <a:ext cx="22768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пакетов окна — с курсом «Алгоритмы» (против 31% вне окна)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10712" y="201168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10712" y="2011680"/>
            <a:ext cx="2606040" cy="73152"/>
          </a:xfrm>
          <a:prstGeom prst="rect">
            <a:avLst/>
          </a:prstGeom>
          <a:solidFill>
            <a:srgbClr val="3A8B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75304" y="224028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20–23 авг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75304" y="257860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линейки ПРО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575304" y="310896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A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575304" y="3429000"/>
            <a:ext cx="22768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 ПРО: 0,8 → 10,5 заказов/день, рост в 13 раз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72784" y="201168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2784" y="2011680"/>
            <a:ext cx="2606040" cy="73152"/>
          </a:xfrm>
          <a:prstGeom prst="rect">
            <a:avLst/>
          </a:prstGeom>
          <a:solidFill>
            <a:srgbClr val="3A8B5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37376" y="224028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авг – 6 сен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37376" y="257860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Т-Банк + скидка ПРО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437376" y="310896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A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Очень высокая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37376" y="3429000"/>
            <a:ext cx="22768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и 45 заказов 4–5 сентября, 8 950 ₽ — доминирующая цена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34856" y="201168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34856" y="2011680"/>
            <a:ext cx="2606040" cy="7315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99448" y="224028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7–10 сен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299448" y="257860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Бесплатная неделя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9299448" y="310896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299448" y="3429000"/>
            <a:ext cx="22768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Формирует новую воронку, прямой связи с продажами не видно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клика до продажи — одна база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1E2761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350008" y="1883664"/>
            <a:ext cx="164592" cy="164592"/>
          </a:xfrm>
          <a:prstGeom prst="rightArrow">
            <a:avLst/>
          </a:prstGeom>
          <a:solidFill>
            <a:srgbClr val="5C6478"/>
          </a:solidFill>
          <a:ln/>
        </p:spPr>
      </p:sp>
      <p:sp>
        <p:nvSpPr>
          <p:cNvPr id="7" name="Shape 5"/>
          <p:cNvSpPr/>
          <p:nvPr/>
        </p:nvSpPr>
        <p:spPr>
          <a:xfrm>
            <a:off x="2532888" y="164592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1E2761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32888" y="16459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34256" y="1883664"/>
            <a:ext cx="164592" cy="164592"/>
          </a:xfrm>
          <a:prstGeom prst="rightArrow">
            <a:avLst/>
          </a:prstGeom>
          <a:solidFill>
            <a:srgbClr val="5C6478"/>
          </a:solidFill>
          <a:ln/>
        </p:spPr>
      </p:sp>
      <p:sp>
        <p:nvSpPr>
          <p:cNvPr id="10" name="Shape 8"/>
          <p:cNvSpPr/>
          <p:nvPr/>
        </p:nvSpPr>
        <p:spPr>
          <a:xfrm>
            <a:off x="4517136" y="164592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1E2761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17136" y="16459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18504" y="1883664"/>
            <a:ext cx="164592" cy="164592"/>
          </a:xfrm>
          <a:prstGeom prst="rightArrow">
            <a:avLst/>
          </a:prstGeom>
          <a:solidFill>
            <a:srgbClr val="5C6478"/>
          </a:solidFill>
          <a:ln/>
        </p:spPr>
      </p:sp>
      <p:sp>
        <p:nvSpPr>
          <p:cNvPr id="13" name="Shape 11"/>
          <p:cNvSpPr/>
          <p:nvPr/>
        </p:nvSpPr>
        <p:spPr>
          <a:xfrm>
            <a:off x="6501384" y="164592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1E2761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01384" y="16459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tracking_codes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302752" y="1883664"/>
            <a:ext cx="164592" cy="164592"/>
          </a:xfrm>
          <a:prstGeom prst="rightArrow">
            <a:avLst/>
          </a:prstGeom>
          <a:solidFill>
            <a:srgbClr val="5C6478"/>
          </a:solidFill>
          <a:ln/>
        </p:spPr>
      </p:sp>
      <p:sp>
        <p:nvSpPr>
          <p:cNvPr id="16" name="Shape 14"/>
          <p:cNvSpPr/>
          <p:nvPr/>
        </p:nvSpPr>
        <p:spPr>
          <a:xfrm>
            <a:off x="8485632" y="164592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1E2761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85632" y="16459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249156" y="2359152"/>
            <a:ext cx="256032" cy="320040"/>
          </a:xfrm>
          <a:prstGeom prst="downArrow">
            <a:avLst/>
          </a:prstGeom>
          <a:solidFill>
            <a:srgbClr val="5C6478"/>
          </a:solidFill>
          <a:ln/>
        </p:spPr>
      </p:sp>
      <p:sp>
        <p:nvSpPr>
          <p:cNvPr id="19" name="Shape 17"/>
          <p:cNvSpPr/>
          <p:nvPr/>
        </p:nvSpPr>
        <p:spPr>
          <a:xfrm>
            <a:off x="7662672" y="2788920"/>
            <a:ext cx="3429000" cy="640080"/>
          </a:xfrm>
          <a:prstGeom prst="roundRect">
            <a:avLst>
              <a:gd name="adj" fmla="val 8571"/>
            </a:avLst>
          </a:prstGeom>
          <a:solidFill>
            <a:srgbClr val="F2A93B">
              <a:alpha val="18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62672" y="278892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(реальные продажи)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3520440"/>
            <a:ext cx="10881360" cy="1051560"/>
          </a:xfrm>
          <a:prstGeom prst="roundRect">
            <a:avLst>
              <a:gd name="adj" fmla="val 5217"/>
            </a:avLst>
          </a:prstGeom>
          <a:solidFill>
            <a:schemeClr val="accent3">
              <a:lumMod val="20000"/>
              <a:lumOff val="80000"/>
              <a:alpha val="60000"/>
            </a:schemeClr>
          </a:solidFill>
          <a:ln>
            <a:solidFill>
              <a:schemeClr val="dk1"/>
            </a:solidFill>
          </a:ln>
        </p:spPr>
      </p:sp>
      <p:sp>
        <p:nvSpPr>
          <p:cNvPr id="22" name="Text 20"/>
          <p:cNvSpPr txBox="1"/>
          <p:nvPr/>
        </p:nvSpPr>
        <p:spPr>
          <a:xfrm>
            <a:off x="822960" y="36576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таблиц, три группы: 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(пользователи) · 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за реклама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(кампания→размещение→креатив→метка) · 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произошло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(касания, интерес, разговор, посты, оплаты)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475488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1E2761">
              <a:alpha val="8000"/>
            </a:srgbClr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" y="493776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Ключевое решение: payments не ссылается на конкретное касание.
</a:t>
            </a:r>
            <a:r>
              <a:rPr lang="en-US" sz="16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touches хранит все точки контакта — какому каналу приписать продажу, решает </a:t>
            </a:r>
            <a:r>
              <a:rPr lang="en-US" sz="1600" dirty="0" err="1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r>
              <a:rPr lang="en-US" sz="16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атрибуции</a:t>
            </a:r>
            <a:r>
              <a:rPr lang="en-US" sz="16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а не структура БД.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Кому засчитать продажу?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566928"/>
          </a:xfrm>
          <a:prstGeom prst="roundRect">
            <a:avLst>
              <a:gd name="adj" fmla="val 8065"/>
            </a:avLst>
          </a:prstGeom>
          <a:solidFill>
            <a:srgbClr val="CADCFC">
              <a:alpha val="5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4173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touch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14173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заслуга первому касанию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075688"/>
            <a:ext cx="5394960" cy="566928"/>
          </a:xfrm>
          <a:prstGeom prst="roundRect">
            <a:avLst>
              <a:gd name="adj" fmla="val 8065"/>
            </a:avLst>
          </a:prstGeom>
          <a:solidFill>
            <a:srgbClr val="CADCFC">
              <a:alpha val="5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20756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touch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207568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заслуга последнему касанию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734056"/>
            <a:ext cx="5394960" cy="566928"/>
          </a:xfrm>
          <a:prstGeom prst="roundRect">
            <a:avLst>
              <a:gd name="adj" fmla="val 8065"/>
            </a:avLst>
          </a:prstGeom>
          <a:solidFill>
            <a:srgbClr val="CADCFC">
              <a:alpha val="5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73405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273405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Поровну между всеми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392424"/>
            <a:ext cx="5394960" cy="566928"/>
          </a:xfrm>
          <a:prstGeom prst="roundRect">
            <a:avLst>
              <a:gd name="adj" fmla="val 8065"/>
            </a:avLst>
          </a:prstGeom>
          <a:solidFill>
            <a:srgbClr val="CADCFC">
              <a:alpha val="55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3232" y="339242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decay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514600" y="339242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ближе к покупке, тем больше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050792"/>
            <a:ext cx="5394960" cy="566928"/>
          </a:xfrm>
          <a:prstGeom prst="roundRect">
            <a:avLst>
              <a:gd name="adj" fmla="val 8065"/>
            </a:avLst>
          </a:prstGeom>
          <a:solidFill>
            <a:srgbClr val="F2A93B">
              <a:alpha val="22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" y="405079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based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514600" y="405079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первому, 40% последнему, 20% — остальным</a:t>
            </a:r>
            <a:endParaRPr lang="en-US" sz="1100" dirty="0"/>
          </a:p>
        </p:txBody>
      </p:sp>
      <p:graphicFrame>
        <p:nvGraphicFramePr>
          <p:cNvPr id="19" name="Chart 0"/>
          <p:cNvGraphicFramePr/>
          <p:nvPr>
            <p:extLst>
              <p:ext uri="{D42A27DB-BD31-4B8C-83A1-F6EECF244321}">
                <p14:modId xmlns:p14="http://schemas.microsoft.com/office/powerpoint/2010/main" val="4204321926"/>
              </p:ext>
            </p:extLst>
          </p:nvPr>
        </p:nvGraphicFramePr>
        <p:xfrm>
          <a:off x="6263640" y="1417320"/>
          <a:ext cx="53492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 17"/>
          <p:cNvSpPr/>
          <p:nvPr/>
        </p:nvSpPr>
        <p:spPr>
          <a:xfrm>
            <a:off x="6263640" y="4343400"/>
            <a:ext cx="5349240" cy="1783080"/>
          </a:xfrm>
          <a:prstGeom prst="roundRect">
            <a:avLst>
              <a:gd name="adj" fmla="val 3077"/>
            </a:avLst>
          </a:prstGeom>
          <a:solidFill>
            <a:srgbClr val="1E2761">
              <a:alpha val="8000"/>
            </a:srgbClr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46520" y="4480560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каналов может перевернуться
</a:t>
            </a:r>
            <a:r>
              <a:rPr lang="en-US" sz="15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реальных данных разница ROMI между моделями — до 29%, но ранжирование каналов стабильно. Кроме случая, когда один канал знакомит, а другой дожимает — тогда first-touch и last-touch дают противоположные рекомендации.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атрибуции — 9 дней, посчитано по перцентилю лага «касание → покупка» (90% укладываются)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«После» не значит «из-за»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371600"/>
          <a:ext cx="57607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48920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 рекламы (разница разниц) ≈ +8,6 заказа/день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537960" y="1371600"/>
            <a:ext cx="5074920" cy="1965960"/>
          </a:xfrm>
          <a:prstGeom prst="roundRect">
            <a:avLst>
              <a:gd name="adj" fmla="val 2791"/>
            </a:avLst>
          </a:prstGeom>
          <a:solidFill>
            <a:srgbClr val="CADCFC">
              <a:alpha val="60000"/>
            </a:srgbClr>
          </a:solidFill>
          <a:ln>
            <a:solidFill>
              <a:schemeClr val="dk1"/>
            </a:solidFill>
          </a:ln>
        </p:spPr>
      </p:sp>
      <p:sp>
        <p:nvSpPr>
          <p:cNvPr id="7" name="Text 4"/>
          <p:cNvSpPr txBox="1"/>
          <p:nvPr/>
        </p:nvSpPr>
        <p:spPr>
          <a:xfrm>
            <a:off x="6720840" y="1536192"/>
            <a:ext cx="4709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августа: скидка и выходной неразличимы
</a:t>
            </a:r>
            <a:r>
              <a:rPr lang="en-US" sz="15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заказов вместо обычных 9–12. Честная вилка эффекта рекламы — от 42 до 56, точнее нельзя: почти все акции запускались именно по выходным.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537960" y="3520440"/>
            <a:ext cx="5074920" cy="2606040"/>
          </a:xfrm>
          <a:prstGeom prst="roundRect">
            <a:avLst>
              <a:gd name="adj" fmla="val 2105"/>
            </a:avLst>
          </a:prstGeom>
          <a:solidFill>
            <a:srgbClr val="1E2761">
              <a:alpha val="8000"/>
            </a:srgbClr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20840" y="3657600"/>
            <a:ext cx="4709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будущее: holdout в рассылке бота
</a:t>
            </a:r>
            <a:r>
              <a:rPr lang="en-US" sz="15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 в канале видят все подписчики сразу — обычный A/B невозможен. Единственное честное место для рандомизации — рассылка бота: часть людей сознательно её не получает.
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1 468 человек на группу </a:t>
            </a:r>
            <a:r>
              <a:rPr lang="en-US" sz="15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чтобы поймать лифт +50% при конверсии 5%.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ROMI вместо одного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2331720"/>
          </a:xfrm>
          <a:prstGeom prst="roundRect">
            <a:avLst>
              <a:gd name="adj" fmla="val 2353"/>
            </a:avLst>
          </a:prstGeom>
          <a:solidFill>
            <a:schemeClr val="bg1">
              <a:lumMod val="95000"/>
              <a:alpha val="25000"/>
            </a:schemeClr>
          </a:solidFill>
          <a:ln>
            <a:solidFill>
              <a:schemeClr val="dk1"/>
            </a:solidFill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ROMI_attr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атрибуции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 мы приписали уже случившуюся продажу — по правилам из задачи 6.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F2A93B">
              <a:alpha val="25000"/>
            </a:srgbClr>
          </a:solidFill>
          <a:ln>
            <a:solidFill>
              <a:schemeClr val="dk1"/>
            </a:solidFill>
          </a:ln>
        </p:spPr>
      </p:sp>
      <p:sp>
        <p:nvSpPr>
          <p:cNvPr id="9" name="Text 7"/>
          <p:cNvSpPr txBox="1"/>
          <p:nvPr/>
        </p:nvSpPr>
        <p:spPr>
          <a:xfrm>
            <a:off x="6537960" y="164592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ROMI_inc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1488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holdout-тест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5146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реклама добавила на самом деле — по результату эксперимента из задачи 7.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840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Разрыв между ними = органический спрос, который не стоит записывать в заслугу рекламе</a:t>
            </a: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1E2761">
              <a:alpha val="8000"/>
            </a:srgbClr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343400"/>
            <a:ext cx="4983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Рыночная оценка стоимости
</a:t>
            </a:r>
            <a:r>
              <a:rPr lang="en-US" sz="15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Затрат на рекламу в данных нет ни одной цифры. Пост в канале на ~20 000 подписчиков — 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5 000–15 000 ₽</a:t>
            </a:r>
            <a:r>
              <a:rPr lang="en-US" sz="15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(открытые прайсы, помечено как оценка).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63640" y="416052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1E2761">
              <a:alpha val="8000"/>
            </a:srgbClr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4343400"/>
            <a:ext cx="4983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 без затрат — </a:t>
            </a:r>
            <a:r>
              <a:rPr lang="en-US" sz="16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</a:t>
            </a: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∞, а н/д
</a:t>
            </a:r>
            <a:r>
              <a:rPr lang="en-US" sz="16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канал и органика формально стоят 0 ₽. Делить на ноль и показывать бесконечный ROMI — вводит в заблуждение. Рядом считается CAC.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9–10 (MVP)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Прогноз честен, MVP работает целиком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продаж: backtest бейзлайнов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931221"/>
              </p:ext>
            </p:extLst>
          </p:nvPr>
        </p:nvGraphicFramePr>
        <p:xfrm>
          <a:off x="548640" y="1783080"/>
          <a:ext cx="5486400" cy="19202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Модель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68,7%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wd_profile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8862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даёт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практической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точности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типичная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≈50%.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честный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количественный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а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провал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37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дней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истории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слишком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мало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относительно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силы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нерегулярных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промо-эффектов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6355080" y="1371600"/>
            <a:ext cx="5257800" cy="4480560"/>
          </a:xfrm>
          <a:prstGeom prst="roundRect">
            <a:avLst>
              <a:gd name="adj" fmla="val 1224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629400" y="16002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MVP: python demo.py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629400" y="2240280"/>
            <a:ext cx="292608" cy="2926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Text 7"/>
          <p:cNvSpPr txBox="1"/>
          <p:nvPr/>
        </p:nvSpPr>
        <p:spPr>
          <a:xfrm>
            <a:off x="6629400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059168" y="221284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Реальные продажи (795 строк base.xlsx) → SQLite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29400" y="2807208"/>
            <a:ext cx="292608" cy="2926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29400" y="2807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059168" y="277977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Синтетические касания — 1-3 на заказ, честная органика 35%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29400" y="3374136"/>
            <a:ext cx="292608" cy="2926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629400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059168" y="334670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моделей атрибуции поверх реальных+синтетических данных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629400" y="3941064"/>
            <a:ext cx="292608" cy="2926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629400" y="3941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059168" y="391363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ROMI и CAC по каналам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629400" y="4507992"/>
            <a:ext cx="292608" cy="2926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629400" y="4507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059168" y="44805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Incrementality и прогноз — на 100% реальных данных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629400" y="521208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команда — весь прогон, с явной сводкой «что реальное, что синтетика»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300 000 ₽: не гадать, а измерять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Конкретный канал называть не обязательно — нужна система принятия решения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F2A9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210 000 ₽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96596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Тестовая волна поровну по 4-5 каналам — иначе сравнение нечестное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770632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F2A9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77063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90 000 ₽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277063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 — усилить то, что сработало, не то, что казалось перспективным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575304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F2A9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57530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0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357530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размещений + бесплатный holdout в рассылке параллельно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379976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F2A9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37997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д</a:t>
            </a:r>
            <a:r>
              <a:rPr lang="ru-RU" sz="15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ень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108960" y="437997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ROMI_attr, ROMI_inc и CAC по каналу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184648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F2A9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18464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108960" y="51846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 — в канал с лучшим ROMI по марже, а не по выручке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6080760"/>
            <a:ext cx="10881360" cy="18288"/>
          </a:xfrm>
          <a:prstGeom prst="rect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holdout не показал разницы — так и пишем: «эффекта не обнаружено», а не «эффект есть, но маленький».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1009</Words>
  <Application>Microsoft Office PowerPoint</Application>
  <PresentationFormat>Широкоэкранный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145786</vt:lpstr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Твоя Zefiro</cp:lastModifiedBy>
  <cp:revision>10</cp:revision>
  <dcterms:created xsi:type="dcterms:W3CDTF">2026-09-12T15:27:20Z</dcterms:created>
  <dcterms:modified xsi:type="dcterms:W3CDTF">2026-09-12T16:03:13Z</dcterms:modified>
</cp:coreProperties>
</file>